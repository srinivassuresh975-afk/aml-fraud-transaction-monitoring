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this as a business control improvement, not a dashboard demo. The headline is that a documented control behaved differently than expected, and the analysis translates that gap into a measurable future-state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decision. Pause on the three numbers, then explain that the recommendation is validation and shadow mode — not immediate production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numbers land. Emphasize that the weakness occurs before investigation: if the rule does not fire, analysts never receive the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business-analysis slide. Explain the difference between documented intent and implemented logic, then connect it to requirements traceability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the technical defect into executive concerns: compliance exposure, operational blind spots, false assurance and a weak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the project was guided by business requirements rather than by a desire to build a model or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senior stakeholders, this is the operating-model slide. The target is a closed control lifecycle with visible ownership and measurable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analytics is selective. Obvious deterministic patterns remain transparent rules; analytics is reserved for harder residual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confident but do not overclaim. The POC demonstrates feasibility on synthetic held-out data; it does not establish production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dashboard as evidence of operationalization. Executive Overview supports management decisions; Investigation Detail supports case review. Call out that the screenshot queue is sorted by amount and would be re-sorted by risk score in live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the question “how can the business control fraud?” Emphasize that no model stops fraud alone; prevention, detection, investigation and feedback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the decision path: validate on real data, agree risk appetite, run in shadow mode, then operationalize with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thesis: the goal is not more alerts; it is better-controlled detection. Ask for the next step, not approval for production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divider. Use only if stakeholders want supporting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engineered risk indicators in business language. The purpose is explainability and prioritization, not feature engineering for its own sake.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facts first, then risk reasons. Reinforce that multiple unusual signals justify investigation; no single signal proves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metric to a management question and operating capacity. Avoid optimizing for accuracy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hide the limitations. They are the reason the recommendation is real-data validation and shadow mode rather than direct replacement.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AML / FRAUD ANALYTICS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63E34"/>
                </a:solidFill>
                <a:latin typeface="Aptos"/>
              </a:rPr>
              <a:t>Strengthening AML Transaction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77763"/>
                </a:solidFill>
                <a:latin typeface="Aptos"/>
              </a:rPr>
              <a:t>From Control Gaps to Explainable, Risk-Based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10424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06E67"/>
                </a:solidFill>
                <a:latin typeface="Aptos"/>
              </a:rPr>
              <a:t>A business-led case study that identifies a monitoring weakness, quantifies the risk, redesigns the control and turns analytics into an investigation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B4343"/>
                </a:solidFill>
                <a:latin typeface="Aptos"/>
              </a:rPr>
              <a:t>LEGACY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96512"/>
            <a:ext cx="2926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B4343"/>
                </a:solidFill>
                <a:latin typeface="Aptos"/>
              </a:rPr>
              <a:t>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fraud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2702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77763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749039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E8522"/>
                </a:solidFill>
                <a:latin typeface="Aptos"/>
              </a:rPr>
              <a:t>CONTROL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096512"/>
            <a:ext cx="2926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BE8522"/>
                </a:solidFill>
                <a:latin typeface="Aptos"/>
              </a:rPr>
              <a:t>1,646 / 1,654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451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confirmed fraud cases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27024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77763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749039"/>
            <a:ext cx="2926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POC REDESIGN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96512"/>
            <a:ext cx="29260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77763"/>
                </a:solidFill>
                <a:latin typeface="Aptos"/>
              </a:rPr>
              <a:t>100%*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45152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fraud recall in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06E67"/>
                </a:solidFill>
                <a:latin typeface="Aptos"/>
              </a:rPr>
              <a:t>*Held-out synthetic test data; feasibility evidence, not a production performance claim.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8229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F2723"/>
                </a:solidFill>
                <a:latin typeface="Aptos"/>
              </a:rPr>
              <a:t>Business Analysis • AML/KYC • Python • SQL • 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53328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6E67"/>
                </a:solidFill>
                <a:latin typeface="Aptos"/>
              </a:rPr>
              <a:t>Prepared by Srinivas Suresh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01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A control weakness was measurable — and fixable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decision is whether to validate the redesigned approach on real historical data and move into a governed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B4343"/>
                </a:solidFill>
                <a:latin typeface="Aptos"/>
              </a:rPr>
              <a:t>0.5%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Legacy fraud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Only 8 of 1,654 confirmed fraud cases surfaced.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77763"/>
                </a:solidFill>
                <a:latin typeface="Aptos"/>
              </a:rPr>
              <a:t>100%*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POC fraud recall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All 1,654 confirmed fraud cases surfaced in the held-out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E8522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False alarms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Six non-fraud alerts across 51,286 test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29000"/>
            <a:ext cx="1065276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67328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B4343"/>
                </a:solidFill>
                <a:latin typeface="Aptos"/>
              </a:rPr>
              <a:t>ROOT 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675887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E34"/>
                </a:solidFill>
                <a:latin typeface="Aptos"/>
              </a:rPr>
              <a:t>Documented monitoring intent did not match the implemented rule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3434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E34"/>
                </a:solidFill>
                <a:latin typeface="Aptos"/>
              </a:rPr>
              <a:t>Use transparent rules for obvious patterns and analytics for harder residual risk.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6636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9437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MANAGEMENT 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5780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Approve real-data validation → Compliance threshold workshop → shadow-mode pilot.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02 | CONTROL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The legacy rule was effectively blind to most confirmed fraud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Held-out test population: 51,286 transactions containing 1,654 confirmed fraud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3E34"/>
                </a:solidFill>
                <a:latin typeface="Aptos"/>
              </a:rPr>
              <a:t>1,654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05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Confirmed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Known fraud cases in the test population.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82880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B4343"/>
                </a:solidFill>
                <a:latin typeface="Aptos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505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88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Cases caught by the existing monitoring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82880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B4343"/>
                </a:solidFill>
                <a:latin typeface="Aptos"/>
              </a:rPr>
              <a:t>1,646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Missed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88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Confirmed fraud cases that never entered the alert queue.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77639"/>
            <a:ext cx="10652760" cy="749808"/>
          </a:xfrm>
          <a:prstGeom prst="roundRect">
            <a:avLst/>
          </a:prstGeom>
          <a:solidFill>
            <a:srgbClr val="F9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05655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B4343"/>
                </a:solidFill>
                <a:latin typeface="Aptos"/>
              </a:rPr>
              <a:t>SO WHAT?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06907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This was not a small tuning issue. If a transaction is never flagged, investigators cannot review it — creating silent control failure.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06E67"/>
                </a:solidFill>
                <a:latin typeface="Aptos"/>
              </a:rPr>
              <a:t>Plain-English analogy: a smoke detector that sounds for 8 of 1,654 fires needs the detector logic reviewed before the response team is blamed.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03 | ROOT-CAUSE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3E34"/>
                </a:solidFill>
                <a:latin typeface="Aptos"/>
              </a:rPr>
              <a:t>What stakeholders believed the control did was not what it actually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The key BA finding was a traceability failure between business intent, technical implementation and test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4754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DOCUMENTED INTENT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3E34"/>
                </a:solidFill>
                <a:latin typeface="Aptos"/>
              </a:rPr>
              <a:t>“Flag transfers over $200,000.”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E67"/>
                </a:solidFill>
                <a:latin typeface="Aptos"/>
              </a:rPr>
              <a:t>66.6% of confirmed fraud cases were above $200K, so stakeholders could reasonably expect broad coverage.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4937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B4343"/>
                </a:solidFill>
                <a:latin typeface="Aptos"/>
              </a:rPr>
              <a:t>IMPLEMENTED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488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BB4343"/>
                </a:solidFill>
                <a:latin typeface="Aptos"/>
              </a:rPr>
              <a:t>Amount &gt; $200K</a:t>
            </a:r>
            <a:br/>
            <a:r>
              <a:rPr sz="1900" b="1">
                <a:solidFill>
                  <a:srgbClr val="BB4343"/>
                </a:solidFill>
                <a:latin typeface="Aptos"/>
              </a:rPr>
              <a:t>AND sender balance shows no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063240"/>
            <a:ext cx="46634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E67"/>
                </a:solidFill>
                <a:latin typeface="Aptos"/>
              </a:rPr>
              <a:t>The extra condition was highly restrictive. The rule fired only 16 times in the full dataset.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42316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BE8522"/>
                </a:solidFill>
                <a:latin typeface="Aptos"/>
              </a:rPr>
              <a:t>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43400"/>
            <a:ext cx="10652760" cy="749808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8522"/>
                </a:solidFill>
                <a:latin typeface="Aptos"/>
              </a:rPr>
              <a:t>BA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43484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Business rule → technical logic → test evidence → production KPI must remain traceable and reviewable.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04 |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Why this matters beyond a model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A weak detection control affects assurance, regulatory defensibility, analyst workload and management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4983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Suspicious activity can remain unreviewed, weakening escalation and SAR/STR decisioning.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71800"/>
            <a:ext cx="493776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8308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67128"/>
            <a:ext cx="4983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Alert queues can look manageable simply because risky transactions never entered them.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971800"/>
            <a:ext cx="493776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B4343"/>
                </a:solidFill>
                <a:latin typeface="Aptos"/>
              </a:rPr>
              <a:t>ASSURANCE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4983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Leadership may believe a control exists while actual coverage is materially narrower.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72000"/>
            <a:ext cx="493776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383280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767328"/>
            <a:ext cx="4983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Without recall/precision monitoring, rule tuning becomes opinion-led instead of evidence-led.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572000"/>
            <a:ext cx="493776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498348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114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MANAGEMENT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07492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The goal is not “more alerts.” It is the right alerts, with evidence, at a workload the investigation team can absorb.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05 | BUSINESS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Define outcomes before choosing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redesign is governed by six testable requirements that Compliance, Operations and Analytics can all understand.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7373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1488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Surface suspicious activity missed by the legacy rule.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1288" y="288036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17373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1488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Show why each alert or risk classification was created.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18888" y="288036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7373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PRIORITIZE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1488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Rank higher-risk cases ahead of lower-risk noise.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76488" y="288036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" y="34290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CONTEXTUALIZE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8404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Expose transaction, account, balance and time signals.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1288" y="457200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4290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8888" y="34290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GOVERN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8888" y="38404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Make thresholds and rule changes auditable.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18888" y="457200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4290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77763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42900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8404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Track recall, precision, false alarms and alert volume.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6488" y="4572000"/>
            <a:ext cx="26974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516636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9437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SUCCESS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25780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Better detection + explainable reasoning + manageable analyst workload.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06 | FUTURE-STATE 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Close the loop from prevention to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target state makes detection quality, analyst workload and threshold decisions visible and governable.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PREVENT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KYC/CDD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risk segmentation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2432304"/>
            <a:ext cx="50292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DETECT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62656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35808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0008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Rules +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analytics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04488" y="2432304"/>
            <a:ext cx="50292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PRIORITIZE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01184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74336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8536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Ranked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alert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43016" y="2432304"/>
            <a:ext cx="50292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27064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INVESTIGATE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9712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12864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Case-level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explanations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81544" y="2432304"/>
            <a:ext cx="50292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5592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RESPOND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51392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5592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Escalate /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document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0072" y="2432304"/>
            <a:ext cx="50292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04120" y="1874519"/>
            <a:ext cx="1554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277763"/>
                </a:solidFill>
                <a:latin typeface="Aptos"/>
              </a:rPr>
              <a:t>IMPROVE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16768" y="2286000"/>
            <a:ext cx="320040" cy="320040"/>
          </a:xfrm>
          <a:prstGeom prst="round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2340864"/>
            <a:ext cx="182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2880360"/>
            <a:ext cx="1554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63E34"/>
                </a:solidFill>
                <a:latin typeface="Aptos"/>
              </a:rPr>
              <a:t>Feedback +</a:t>
            </a:r>
            <a:br/>
            <a:r>
              <a:rPr sz="1050" b="1">
                <a:solidFill>
                  <a:srgbClr val="163E34"/>
                </a:solidFill>
                <a:latin typeface="Aptos"/>
              </a:rPr>
              <a:t>threshold tuning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34340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714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TARGET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43484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A controlled monitoring lifecycle — not a one-off model or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07 | RISK-BASED DETECTION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Use simple logic where it works — analytics where it adds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architecture avoids unnecessary complexity and preserves explainability for investigators.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E34"/>
                </a:solidFill>
                <a:latin typeface="Aptos"/>
              </a:rPr>
              <a:t>Transparent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06E67"/>
                </a:solidFill>
                <a:latin typeface="Aptos"/>
              </a:rPr>
              <a:t>Flag obvious deterministic patterns such as the sender account being drained to exactly zero.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977639"/>
            <a:ext cx="31546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24528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77763"/>
                </a:solidFill>
                <a:latin typeface="Aptos"/>
              </a:rPr>
              <a:t>Simple • auditable • explainable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163E34"/>
                </a:solidFill>
                <a:latin typeface="Aptos"/>
              </a:rP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E34"/>
                </a:solidFill>
                <a:latin typeface="Aptos"/>
              </a:rPr>
              <a:t>Residual-risk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9748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06E67"/>
                </a:solidFill>
                <a:latin typeface="Aptos"/>
              </a:rPr>
              <a:t>For cases Tier 1 misses, combine amount, balance mismatch, transaction type, empty destination and structuring signals.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77639"/>
            <a:ext cx="31546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224528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63E34"/>
                </a:solidFill>
                <a:latin typeface="Aptos"/>
              </a:rPr>
              <a:t>Multi-signal • prioritized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783080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E8522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21488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E34"/>
                </a:solidFill>
                <a:latin typeface="Aptos"/>
              </a:rPr>
              <a:t>One ranked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697480"/>
            <a:ext cx="31546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06E67"/>
                </a:solidFill>
                <a:latin typeface="Aptos"/>
              </a:rPr>
              <a:t>Tier 1 OR Tier 2 creates one prioritized alert list with the factors that explain why the case needs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977639"/>
            <a:ext cx="31546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4224528"/>
            <a:ext cx="3154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BE8522"/>
                </a:solidFill>
                <a:latin typeface="Aptos"/>
              </a:rPr>
              <a:t>Actionable • investigator-ready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9204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020055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DESIGN PRINCIPLE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98347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Complexity must earn its place: keep obvious patterns simple; reserve analytics for residual cases rules cannot reliably separate.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08 | PROOF-OF-CONCEPT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3E34"/>
                </a:solidFill>
                <a:latin typeface="Aptos"/>
              </a:rPr>
              <a:t>The redesign closed the observed gap without creating a large alert burden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Same held-out test period used for all comparisons: 51,286 transactions and 1,654 confirmed fraud cases.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77763"/>
                </a:solidFill>
                <a:latin typeface="Aptos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Fraud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1,654 / 1,654 confirmed fraud cases surfaced.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3E34"/>
                </a:solidFill>
                <a:latin typeface="Aptos"/>
              </a:rPr>
              <a:t>99.6%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Alert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Very few generated alerts were non-fraud.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783080"/>
            <a:ext cx="31089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BE8522"/>
                </a:solidFill>
                <a:latin typeface="Aptos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04872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723"/>
                </a:solidFill>
                <a:latin typeface="Aptos"/>
              </a:rPr>
              <a:t>False alarms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43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606E67"/>
                </a:solidFill>
                <a:latin typeface="Aptos"/>
              </a:rPr>
              <a:t>Six non-fraud alerts across the full test population.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14215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BUSINESS 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97763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In this test window, detection improved materially without creating a large investigation burden.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92040"/>
            <a:ext cx="10652760" cy="749808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20055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8522"/>
                </a:solidFill>
                <a:latin typeface="Aptos"/>
              </a:rPr>
              <a:t>RESPONSIBLE CAVEAT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8347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Synthetic data + one held-out period. Treat this as feasibility evidence, not expected production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09 | POWER BI DECISION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3E34"/>
                </a:solidFill>
                <a:latin typeface="Aptos"/>
              </a:rPr>
              <a:t>Turn monitoring output into management and investigation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The dashboard serves two audiences: leadership needs control visibility; investigators need prioritized case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executive_overview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4208"/>
            <a:ext cx="5257800" cy="3154680"/>
          </a:xfrm>
          <a:prstGeom prst="rect">
            <a:avLst/>
          </a:prstGeom>
        </p:spPr>
      </p:pic>
      <p:pic>
        <p:nvPicPr>
          <p:cNvPr id="9" name="Picture 8" descr="investigation_detail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664208"/>
            <a:ext cx="5257800" cy="3154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956048"/>
            <a:ext cx="5257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EXECUTIVE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Exposure, confirmed fraud, risk concentration, trends and recommended 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4956048"/>
            <a:ext cx="5257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INVESTIGATION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5257800"/>
            <a:ext cx="5257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Prioritized transaction queue, risk score, red flags, amounts and account drill-down.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8522"/>
                </a:solidFill>
                <a:latin typeface="Aptos"/>
              </a:rPr>
              <a:t>Important: dashboard totals reflect the full 2.77M synthetic monitoring population; POC recall/precision uses the separate 51,286-transaction held-out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574243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BE8522"/>
                </a:solidFill>
                <a:latin typeface="Aptos"/>
              </a:rPr>
              <a:t>Queue caveat: this screenshot is sorted by transaction amount; in live use, re-sort by risk score so higher-risk cases surface first.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10 | FRAUD CONTROL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Reduce risk across the lifecycle — not only at the alert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No model or dashboard can “stop fraud” alone. Effective control combines prevention, detection, investigation and feedback.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277763"/>
                </a:solidFill>
                <a:latin typeface="Aptos"/>
              </a:rPr>
              <a:t>PREVENT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E34"/>
                </a:solidFill>
                <a:latin typeface="Aptos"/>
              </a:rPr>
              <a:t>Know the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KYC/CDD quality, risk segmentation, authentication and beneficiary controls.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2468880" cy="32004"/>
          </a:xfrm>
          <a:prstGeom prst="rect">
            <a:avLst/>
          </a:prstGeom>
          <a:solidFill>
            <a:srgbClr val="16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277763"/>
                </a:solidFill>
                <a:latin typeface="Aptos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E34"/>
                </a:solidFill>
                <a:latin typeface="Aptos"/>
              </a:rPr>
              <a:t>Spot abnormal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Balance anomalies, high-value movement, structuring/velocity and multiple risk signals.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160520"/>
            <a:ext cx="2468880" cy="32004"/>
          </a:xfrm>
          <a:prstGeom prst="rect">
            <a:avLst/>
          </a:prstGeom>
          <a:solidFill>
            <a:srgbClr val="2777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783080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277763"/>
                </a:solidFill>
                <a:latin typeface="Aptos"/>
              </a:rPr>
              <a:t>INVESTIGATE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E34"/>
                </a:solidFill>
                <a:latin typeface="Aptos"/>
              </a:rPr>
              <a:t>Prioritize and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697480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Ranked queue, account context, red-flag reasons and consistent documentation.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4160520"/>
            <a:ext cx="2468880" cy="32004"/>
          </a:xfrm>
          <a:prstGeom prst="rect">
            <a:avLst/>
          </a:prstGeom>
          <a:solidFill>
            <a:srgbClr val="BE8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783080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>
                <a:solidFill>
                  <a:srgbClr val="277763"/>
                </a:solidFill>
                <a:latin typeface="Aptos"/>
              </a:rPr>
              <a:t>RESPOND &amp; 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148840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3E34"/>
                </a:solidFill>
                <a:latin typeface="Aptos"/>
              </a:rPr>
              <a:t>Close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19" y="2697480"/>
            <a:ext cx="2514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6E67"/>
                </a:solidFill>
                <a:latin typeface="Aptos"/>
              </a:rPr>
              <a:t>Escalate/restrict where appropriate, consider SAR/STR obligations, tune controls using outcomes.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19" y="4160520"/>
            <a:ext cx="2468880" cy="32004"/>
          </a:xfrm>
          <a:prstGeom prst="rect">
            <a:avLst/>
          </a:prstGeom>
          <a:solidFill>
            <a:srgbClr val="16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80060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286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89204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Assign every control an owner, purpose, KPI, evidence source and review cadence.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11 | MANAGEMENT DECISION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Validate first, then pilot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POC should not replace a production control directly. The path forward is controlled validation and evidence-based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91640"/>
            <a:ext cx="566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7763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9164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E34"/>
                </a:solidFill>
                <a:latin typeface="Aptos"/>
              </a:rPr>
              <a:t>REAL-DATA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1691640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Re-run against historical alerts with known dispositions.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67712"/>
            <a:ext cx="1046988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566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7763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62432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E34"/>
                </a:solidFill>
                <a:latin typeface="Aptos"/>
              </a:rPr>
              <a:t>RISK APPETITE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624328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Compliance agrees acceptable precision/recall trade-off and threshold policy.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200400"/>
            <a:ext cx="1046988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57016"/>
            <a:ext cx="566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776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57016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E34"/>
                </a:solidFill>
                <a:latin typeface="Aptos"/>
              </a:rPr>
              <a:t>SHADOW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557016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Generate new alerts alongside existing controls without production replacement.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33088"/>
            <a:ext cx="1046988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489704"/>
            <a:ext cx="566928" cy="31089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1">
                <a:solidFill>
                  <a:srgbClr val="277763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89704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63E34"/>
                </a:solidFill>
                <a:latin typeface="Aptos"/>
              </a:rPr>
              <a:t>OPERATIONALIZE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489704"/>
            <a:ext cx="7223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Add ownership, QA, explanations, change controls and ongoing KPI monitoring.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65776"/>
            <a:ext cx="1046988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5440680"/>
            <a:ext cx="10652760" cy="749808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686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8522"/>
                </a:solidFill>
                <a:latin typeface="Aptos"/>
              </a:rPr>
              <a:t>DECISION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53212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Thresholds owned by Compliance • tested by Analytics • monitored by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8D7C9"/>
                </a:solidFill>
                <a:latin typeface="Aptos"/>
              </a:rP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The opportunity is not “more alerts.”</a:t>
            </a:r>
            <a:br/>
            <a:r>
              <a:rPr sz="3000" b="1">
                <a:solidFill>
                  <a:srgbClr val="FFFFFF"/>
                </a:solidFill>
                <a:latin typeface="Aptos"/>
              </a:rPr>
              <a:t>It is better-controlled detection.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DDE8E3"/>
                </a:solidFill>
                <a:latin typeface="Aptos"/>
              </a:rPr>
              <a:t>The case study identifies a monitoring gap, explains the root cause, defines measurable requirements and demonstrates a safer path to a stronger fraud-control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67328"/>
            <a:ext cx="9966960" cy="22860"/>
          </a:xfrm>
          <a:prstGeom prst="rect">
            <a:avLst/>
          </a:prstGeom>
          <a:solidFill>
            <a:srgbClr val="5B9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8D7C9"/>
                </a:solidFill>
                <a:latin typeface="Aptos"/>
              </a:rPr>
              <a:t>RECOMMENDED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62272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Validate real historical data → agree thresholds with Compliance → run in shadow mode → measure → decide on production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8D7C9"/>
                </a:solidFill>
                <a:latin typeface="Aptos"/>
              </a:rPr>
              <a:t>Srinivas Suresh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42316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277763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803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3E34"/>
                </a:solidFill>
                <a:latin typeface="Aptos"/>
              </a:rPr>
              <a:t>Supporting Analysis &amp; Governance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06E67"/>
                </a:solidFill>
                <a:latin typeface="Aptos"/>
              </a:rPr>
              <a:t>Use these slides when stakeholders want to inspect the evidence behind the executive story.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APPENDIX A | EXPLAINABLE RISK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3E34"/>
                </a:solidFill>
                <a:latin typeface="Aptos"/>
              </a:rPr>
              <a:t>Translate raw transaction data into investigator-friendly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These features support prioritization and explain why a transaction deserves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Account emptied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Sender balance goes to zero after transfer.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34639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Destination empty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Receiver had zero balance before funds arrived.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834639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7830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Large amount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High-value movement increases review severity.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834639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9183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Structuring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Multiple smaller movements may indicate threshold avoidance.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43400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329183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Balance 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70332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Reported balances do not reconcile with movement.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343400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329183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63E34"/>
                </a:solidFill>
                <a:latin typeface="Aptos"/>
              </a:rPr>
              <a:t>Risk score &amp; 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70332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Signals combine into Low / Medium / High / Critical priority.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4343400"/>
            <a:ext cx="2926080" cy="22860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0293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WHY IT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166359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Investigators need reasons behind a score — not only a score.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APPENDIX B | CASE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03504"/>
            <a:ext cx="109728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63E34"/>
                </a:solidFill>
                <a:latin typeface="Aptos"/>
              </a:rPr>
              <a:t>A missed $10M transfer shows why a second detection layer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0972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The transaction was not caught by the legacy rule or the simple drain-to-zero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45720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TRANSACTION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06E67"/>
                </a:solidFill>
                <a:latin typeface="Aptos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9572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723"/>
                </a:solidFill>
                <a:latin typeface="Aptos"/>
              </a:rPr>
              <a:t>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06E67"/>
                </a:solidFill>
                <a:latin typeface="Aptos"/>
              </a:rPr>
              <a:t>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89864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723"/>
                </a:solidFill>
                <a:latin typeface="Aptos"/>
              </a:rPr>
              <a:t>$10,000,000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06E67"/>
                </a:solidFill>
                <a:latin typeface="Aptos"/>
              </a:rPr>
              <a:t>Sender 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40156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723"/>
                </a:solidFill>
                <a:latin typeface="Aptos"/>
              </a:rPr>
              <a:t>$10.78M → $0.78M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06E67"/>
                </a:solidFill>
                <a:latin typeface="Aptos"/>
              </a:rPr>
              <a:t>Receiver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9044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723"/>
                </a:solidFill>
                <a:latin typeface="Aptos"/>
              </a:rPr>
              <a:t>$0 → 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606E67"/>
                </a:solidFill>
                <a:latin typeface="Aptos"/>
              </a:rPr>
              <a:t>Legacy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40740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1">
                <a:solidFill>
                  <a:srgbClr val="1F2723"/>
                </a:solidFill>
                <a:latin typeface="Aptos"/>
              </a:rPr>
              <a:t>Not flagged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78308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B4343"/>
                </a:solidFill>
                <a:latin typeface="Aptos"/>
              </a:rPr>
              <a:t>WHY IT DESERVES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1488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63E34"/>
                </a:solidFill>
                <a:latin typeface="Aptos"/>
              </a:rPr>
              <a:t>99.99% model risk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2880360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7763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83464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723"/>
                </a:solidFill>
                <a:latin typeface="Aptos"/>
              </a:rPr>
              <a:t>Exceptionally large transaction 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538728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7763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49300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723"/>
                </a:solidFill>
                <a:latin typeface="Aptos"/>
              </a:rPr>
              <a:t>Sender balance does not reconcile cleanly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197096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77763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151376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723"/>
                </a:solidFill>
                <a:latin typeface="Aptos"/>
              </a:rPr>
              <a:t>Receiver balance does not increase despite supposed receipt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892040"/>
            <a:ext cx="534924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5020055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59" y="4983479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No single signal proves fraud; several unusual signals together justify investigation.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APPENDIX C |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Measure control quality and operating capacity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A strong monitoring control must be effective, explainable and operationally manageable.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Fraud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73736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Of known fraud, how much did we catch?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32304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37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Alert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173736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Of alerts raised, how many were actually fraud?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32304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False-positive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9718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How much analyst effort is spent on non-fraud?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666744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9718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Alert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97180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Can the investigation team absorb the workload?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666744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06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Investigation 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20624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How quickly are alerts resolved?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01183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4206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163E34"/>
                </a:solidFill>
                <a:latin typeface="Aptos"/>
              </a:rPr>
              <a:t>Control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206240"/>
            <a:ext cx="3063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606E67"/>
                </a:solidFill>
                <a:latin typeface="Aptos"/>
              </a:rPr>
              <a:t>Is performance degrading as behavior changes?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901183"/>
            <a:ext cx="5029200" cy="18288"/>
          </a:xfrm>
          <a:prstGeom prst="rect">
            <a:avLst/>
          </a:prstGeom>
          <a:solidFill>
            <a:srgbClr val="DA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440680"/>
            <a:ext cx="10652760" cy="749808"/>
          </a:xfrm>
          <a:prstGeom prst="roundRect">
            <a:avLst/>
          </a:prstGeom>
          <a:solidFill>
            <a:srgbClr val="E9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5686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277763"/>
                </a:solidFill>
                <a:latin typeface="Aptos"/>
              </a:rPr>
              <a:t>KPI PRINCIPLE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53212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Optimize for risk reduction and operational capacity — not accuracy alone.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277763"/>
                </a:solidFill>
                <a:latin typeface="Aptos"/>
              </a:rPr>
              <a:t>APPENDIX D | LIMITATIONS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163E34"/>
                </a:solidFill>
                <a:latin typeface="Aptos"/>
              </a:rPr>
              <a:t>What the project proves — and what still needs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33856"/>
            <a:ext cx="10972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606E67"/>
                </a:solidFill>
                <a:latin typeface="Aptos"/>
              </a:rPr>
              <a:t>The recommendation is deliberately stronger because the evidence boundary is explicit.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20" b="0">
                <a:solidFill>
                  <a:srgbClr val="606E67"/>
                </a:solidFill>
                <a:latin typeface="Aptos"/>
              </a:rPr>
              <a:t>AML Fraud &amp; Transaction Monitoring — Executive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37960"/>
            <a:ext cx="411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20" b="0">
                <a:solidFill>
                  <a:srgbClr val="606E67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E8522"/>
                </a:solidFill>
                <a:latin typeface="Aptos"/>
              </a:rPr>
              <a:t>SYNTHETIC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E67"/>
                </a:solidFill>
                <a:latin typeface="Aptos"/>
              </a:rPr>
              <a:t>The drain-to-zero pattern is unusually clean because it is embedded in the dataset. Real fraud behavior is messier.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794760"/>
            <a:ext cx="3108960" cy="32004"/>
          </a:xfrm>
          <a:prstGeom prst="rect">
            <a:avLst/>
          </a:prstGeom>
          <a:solidFill>
            <a:srgbClr val="BE8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E8522"/>
                </a:solidFill>
                <a:latin typeface="Aptos"/>
              </a:rPr>
              <a:t>ONE TEST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E67"/>
                </a:solidFill>
                <a:latin typeface="Aptos"/>
              </a:rPr>
              <a:t>Performance has not been validated across multiple periods, real customers or evolving fraud typologies.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794760"/>
            <a:ext cx="3108960" cy="32004"/>
          </a:xfrm>
          <a:prstGeom prst="rect">
            <a:avLst/>
          </a:prstGeom>
          <a:solidFill>
            <a:srgbClr val="BE8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783080"/>
            <a:ext cx="3154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BE8522"/>
                </a:solidFill>
                <a:latin typeface="Aptos"/>
              </a:rPr>
              <a:t>THRESHOLD CHOICE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194560"/>
            <a:ext cx="31546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06E67"/>
                </a:solidFill>
                <a:latin typeface="Aptos"/>
              </a:rPr>
              <a:t>The precision/recall balance reflects business risk appetite; Compliance should own the final threshold decision.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3794760"/>
            <a:ext cx="3108960" cy="32004"/>
          </a:xfrm>
          <a:prstGeom prst="rect">
            <a:avLst/>
          </a:prstGeom>
          <a:solidFill>
            <a:srgbClr val="BE8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0652760" cy="749808"/>
          </a:xfrm>
          <a:prstGeom prst="roundRect">
            <a:avLst/>
          </a:prstGeom>
          <a:solidFill>
            <a:srgbClr val="FA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0001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E8522"/>
                </a:solidFill>
                <a:latin typeface="Aptos"/>
              </a:rPr>
              <a:t>DECISION IMPLICATION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663440"/>
            <a:ext cx="9052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63E34"/>
                </a:solidFill>
                <a:latin typeface="Aptos"/>
              </a:rPr>
              <a:t>Proceed to real-data validation and shadow mode — not direct production replacement.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